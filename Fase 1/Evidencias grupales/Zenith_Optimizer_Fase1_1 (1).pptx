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Inter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lCdKx3c8QwkqtehBLScFtFCj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bold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8b4804af4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g3f8b4804af4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f8b4804af4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1"/>
          <p:cNvGrpSpPr/>
          <p:nvPr/>
        </p:nvGrpSpPr>
        <p:grpSpPr>
          <a:xfrm>
            <a:off x="6843713" y="1319213"/>
            <a:ext cx="3614738" cy="3824400"/>
            <a:chOff x="6843713" y="1319213"/>
            <a:chExt cx="3614738" cy="3824400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43713" y="1319213"/>
              <a:ext cx="2300400" cy="382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24725" y="1800225"/>
              <a:ext cx="18192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1"/>
            <p:cNvSpPr/>
            <p:nvPr/>
          </p:nvSpPr>
          <p:spPr>
            <a:xfrm>
              <a:off x="7810500" y="2286000"/>
              <a:ext cx="2286000" cy="2286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76200">
              <a:solidFill>
                <a:srgbClr val="2D23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382000" y="2857500"/>
              <a:ext cx="1143000" cy="1143000"/>
            </a:xfrm>
            <a:prstGeom prst="ellipse">
              <a:avLst/>
            </a:prstGeom>
            <a:solidFill>
              <a:srgbClr val="E8A33D">
                <a:alpha val="15000"/>
              </a:srgbClr>
            </a:solidFill>
            <a:ln cap="flat" cmpd="sng" w="19050">
              <a:solidFill>
                <a:srgbClr val="E8A3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810625" y="3286125"/>
              <a:ext cx="285900" cy="285900"/>
            </a:xfrm>
            <a:prstGeom prst="ellipse">
              <a:avLst/>
            </a:prstGeom>
            <a:solidFill>
              <a:srgbClr val="E8A3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" name="Google Shape;18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48738" y="1333500"/>
              <a:ext cx="9600" cy="376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58000" y="3424238"/>
              <a:ext cx="22383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1"/>
            <p:cNvSpPr/>
            <p:nvPr/>
          </p:nvSpPr>
          <p:spPr>
            <a:xfrm>
              <a:off x="8877300" y="1733550"/>
              <a:ext cx="152400" cy="152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E8A3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10306050" y="3352800"/>
              <a:ext cx="152400" cy="152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E8A3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8877300" y="4972050"/>
              <a:ext cx="152400" cy="152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E8A3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7448550" y="3352800"/>
              <a:ext cx="152400" cy="152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E8A3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1"/>
          <p:cNvSpPr/>
          <p:nvPr/>
        </p:nvSpPr>
        <p:spPr>
          <a:xfrm>
            <a:off x="952500" y="1428750"/>
            <a:ext cx="57300" cy="4000500"/>
          </a:xfrm>
          <a:prstGeom prst="roundRect">
            <a:avLst>
              <a:gd fmla="val 50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1238250" y="1428750"/>
            <a:ext cx="57150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8A33D"/>
                </a:solidFill>
                <a:latin typeface="Inter"/>
                <a:ea typeface="Inter"/>
                <a:cs typeface="Inter"/>
                <a:sym typeface="Inter"/>
              </a:rPr>
              <a:t>FASE 1</a:t>
            </a:r>
            <a:endParaRPr b="1" sz="1400">
              <a:solidFill>
                <a:srgbClr val="E8A33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Zenith</a:t>
            </a:r>
            <a:endParaRPr b="1" sz="56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Optimizer</a:t>
            </a:r>
            <a:endParaRPr b="1" sz="56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Un motor. Cualquier juego.</a:t>
            </a:r>
            <a:endParaRPr b="0" sz="2400">
              <a:solidFill>
                <a:srgbClr val="E8A3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BDB8DC"/>
                </a:solidFill>
                <a:latin typeface="Inter"/>
                <a:ea typeface="Inter"/>
                <a:cs typeface="Inter"/>
                <a:sym typeface="Inter"/>
              </a:rPr>
              <a:t>Optimización de builds sobre configuración, no sobre código</a:t>
            </a:r>
            <a:endParaRPr b="0" sz="1400">
              <a:solidFill>
                <a:srgbClr val="BDB8D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872A1"/>
                </a:solidFill>
                <a:latin typeface="Inter"/>
                <a:ea typeface="Inter"/>
                <a:cs typeface="Inter"/>
                <a:sym typeface="Inter"/>
              </a:rPr>
              <a:t>Tres integrantes 15 minutos</a:t>
            </a:r>
            <a:endParaRPr b="0" sz="1200">
              <a:solidFill>
                <a:srgbClr val="7872A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/>
        </p:nvSpPr>
        <p:spPr>
          <a:xfrm>
            <a:off x="685800" y="777240"/>
            <a:ext cx="2377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5F9"/>
              </a:buClr>
              <a:buSzPts val="11000"/>
              <a:buFont typeface="Cambria"/>
              <a:buNone/>
            </a:pPr>
            <a:r>
              <a:rPr b="1" lang="en-US" sz="11000">
                <a:solidFill>
                  <a:srgbClr val="F6F5F9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731520" y="23317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Equipo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 rot="5400000">
            <a:off x="985266" y="2608628"/>
            <a:ext cx="41148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731519" y="3256472"/>
            <a:ext cx="302097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Los tres participamos en el refinamiento del backlog; el rol define quién responde por cada decisión.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97680" y="1051560"/>
            <a:ext cx="7223760" cy="18288"/>
          </a:xfrm>
          <a:prstGeom prst="rect">
            <a:avLst/>
          </a:prstGeom>
          <a:solidFill>
            <a:srgbClr val="DFDC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4297680" y="117936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Matias Molina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297680" y="2743200"/>
            <a:ext cx="7223760" cy="18288"/>
          </a:xfrm>
          <a:prstGeom prst="rect">
            <a:avLst/>
          </a:prstGeom>
          <a:solidFill>
            <a:srgbClr val="DFDC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4297680" y="287100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Arturo Moya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297680" y="4434840"/>
            <a:ext cx="7223760" cy="18288"/>
          </a:xfrm>
          <a:prstGeom prst="rect">
            <a:avLst/>
          </a:prstGeom>
          <a:solidFill>
            <a:srgbClr val="DFDC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4297680" y="469087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Ignacio Rodríguez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297680" y="6126480"/>
            <a:ext cx="7223760" cy="18288"/>
          </a:xfrm>
          <a:prstGeom prst="rect">
            <a:avLst/>
          </a:prstGeom>
          <a:solidFill>
            <a:srgbClr val="DFDC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4297669" y="1624300"/>
            <a:ext cx="5575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Scrum Master /  Product Owner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QA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4297680" y="3317669"/>
            <a:ext cx="260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4297680" y="5139035"/>
            <a:ext cx="260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UX/UI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731520" y="68580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Hoy, cada juego que quiere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un optimizador empieza de cero.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31520" y="2081080"/>
            <a:ext cx="1188720" cy="411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731520" y="28803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731520" y="3383280"/>
            <a:ext cx="3200400" cy="416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El trabajo no se reutiliza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733245" y="3883007"/>
            <a:ext cx="3200400" cy="819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Cada herramienta resuelve un solo título. La lógica de optimización se reescribe entera cada vez.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4434840" y="28803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4434840" y="3383280"/>
            <a:ext cx="3200400" cy="416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Se decide a ciegas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4434840" y="3883008"/>
            <a:ext cx="3200400" cy="819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El jugador invierte materiales y tiempo irrecuperables apoyado en planillas o en intuición.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8138160" y="28803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8138160" y="3383280"/>
            <a:ext cx="3200400" cy="416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Envejecen mal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8138160" y="3883008"/>
            <a:ext cx="3200400" cy="510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Cuando el juego rebalancea, la lógica escrita dentro del código deja de servir.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231C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731520" y="6053328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conocimiento de optimización queda encerrado en cada herramienta.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231C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685800" y="105156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La propuesta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685800" y="1691640"/>
            <a:ext cx="4114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juego se configura.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 se programa.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85800" y="3172235"/>
            <a:ext cx="1097280" cy="411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685800" y="4036127"/>
            <a:ext cx="4023360" cy="823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DB8DC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BDB8DC"/>
                </a:solidFill>
                <a:latin typeface="Calibri"/>
                <a:ea typeface="Calibri"/>
                <a:cs typeface="Calibri"/>
                <a:sym typeface="Calibri"/>
              </a:rPr>
              <a:t>No es un optimizador para un juego. Es la maquinaria para crear optimizadores.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5852160" y="123444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Atributos, variables y restricciones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5852160" y="1664208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se definen desde la interfaz, sin tocar el motor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852160" y="2167128"/>
            <a:ext cx="566928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5852160" y="242316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La configuración es un archivo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5852160" y="2852928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se versiona, se exporta, se importa y se comparte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852160" y="3355848"/>
            <a:ext cx="566928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5852160" y="3652424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Un rebalanceo es un cambio de datos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5852160" y="4082192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no una reescritura del sistema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852160" y="4686300"/>
            <a:ext cx="566928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5852160" y="498348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El mismo motor sirve a cualquier título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852160" y="5413248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Genshin, Terraria o Souls corren sobre el mismo código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/>
        </p:nvSpPr>
        <p:spPr>
          <a:xfrm>
            <a:off x="730091" y="384048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75811" y="1298448"/>
            <a:ext cx="41148" cy="13258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141571" y="1518666"/>
            <a:ext cx="10332720" cy="873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100"/>
              <a:buFont typeface="Cambria"/>
              <a:buNone/>
            </a:pPr>
            <a:r>
              <a:rPr lang="en-US" sz="21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Construir un Framework de optimización que permita definir cualquier juego y obtener la build óptima según los objetivos y las restricciones que el usuario declare.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775811" y="294436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ESPECÍFICOS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775811" y="3447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1071086" y="342900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Crear una herramienta para juegos completos sin escribir código.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775811" y="3977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1069657" y="395478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Soportar variables simples, derivadas por fórmula y por categoría.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75811" y="45079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069657" y="4485132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Definir restricciones que acoten la búsqueda a builds válidas.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775811" y="50383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069657" y="5015484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Garantizar trazabilidad: versiones, historial y restauración.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775811" y="55686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1069657" y="5545836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Habilitar portabilidad por exportación e importación.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775811" y="60990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1069657" y="607618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Validar el motor contra al menos un juego real.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9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/>
        </p:nvSpPr>
        <p:spPr>
          <a:xfrm>
            <a:off x="731520" y="64008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Metodología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31520" y="1600200"/>
            <a:ext cx="5029200" cy="4023360"/>
          </a:xfrm>
          <a:prstGeom prst="rect">
            <a:avLst/>
          </a:prstGeom>
          <a:solidFill>
            <a:srgbClr val="231C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1097280" y="201168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Scrum, con una regla que no negociamos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097280" y="2971800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1097280" y="352044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DB8D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DB8DC"/>
                </a:solidFill>
                <a:latin typeface="Calibri"/>
                <a:ea typeface="Calibri"/>
                <a:cs typeface="Calibri"/>
                <a:sym typeface="Calibri"/>
              </a:rPr>
              <a:t>Toda historia se redacta en lenguaje de negocio. Si un criterio no lo puede verificar cualquiera del equipo, el criterio está mal escrito.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6309360" y="173736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Backlog vivo en Notion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6309360" y="210312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Estado, prioridad y criterios visibles para los tres.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6309360" y="297180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Refinamiento antes del sprint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6309360" y="3385695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Ninguna historia entra sin pasar por grooming.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6309360" y="420624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Criterio INVEST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6309360" y="45290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Independiente, negociable, valiosa, estimable, pequeña, testeable.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309360" y="5486400"/>
            <a:ext cx="5212080" cy="18288"/>
          </a:xfrm>
          <a:prstGeom prst="rect">
            <a:avLst/>
          </a:prstGeom>
          <a:solidFill>
            <a:srgbClr val="D6D2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/>
        </p:nvSpPr>
        <p:spPr>
          <a:xfrm>
            <a:off x="731520" y="45720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Tecnologías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777240" y="11155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Cálculo e inventario en el dispositivo; la nube solo para lo que se comparte.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731520" y="1600200"/>
            <a:ext cx="1078992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77240" y="174650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LENGUAJES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2697480" y="170078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TypeScript 5.7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6035040" y="17373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Tipado estricto en todo el ecosistema. Python 3.11 solo para los parsers de datos.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31520" y="2258568"/>
            <a:ext cx="1078992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77240" y="240487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2697480" y="23591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React 18.3 · Vite 6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6035040" y="239572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Tailwind + Shadcn UI para la estética oscura; i18next para multi-idioma desde el núcleo.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731520" y="2916936"/>
            <a:ext cx="1078992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77240" y="30632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MONOREPO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2697480" y="3017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NX 20.5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6035040" y="3054096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App web, bot de Discord y automatización en un solo repositorio.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731520" y="3575304"/>
            <a:ext cx="1078992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77240" y="3721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DATOS LOCALES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2697480" y="367588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IndexedDB + Dexie.js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6035040" y="3712464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Inventario, configuraciones y combinaciones en el dispositivo. Offline-first.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31520" y="4233672"/>
            <a:ext cx="1078992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77240" y="437997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DATOS EN NUBE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2697480" y="433425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PostgreSQL · Supabase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6035040" y="4370832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Plantillas compartidas, votación de la comunidad, autenticación y respaldo.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31520" y="4892040"/>
            <a:ext cx="1078992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777240" y="503834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INFRA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2697480" y="499262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Vercel / Netlify · jsDelivr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035040" y="50292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Despliegue estático y CDN de imágenes desde GitHub. Costo cero.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31520" y="5550408"/>
            <a:ext cx="1078992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777240" y="569671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CALIDAD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2697480" y="56509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Vitest · Playwright · ESLint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035040" y="568756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Pruebas unitarias del motor, E2E de interfaz y CI/CD con GitHub Actions.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731520" y="6208776"/>
            <a:ext cx="10789920" cy="18288"/>
          </a:xfrm>
          <a:prstGeom prst="rect">
            <a:avLst/>
          </a:prstGeom>
          <a:solidFill>
            <a:srgbClr val="E5E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/>
        </p:nvSpPr>
        <p:spPr>
          <a:xfrm>
            <a:off x="678175" y="365749"/>
            <a:ext cx="64008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Modelo de datos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23895" y="1042083"/>
            <a:ext cx="106986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Dos almacenamientos con naturalezas distintas: relacional en la nube, orientado a objetos en el dispositivo.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5449500" y="1461800"/>
            <a:ext cx="12930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50"/>
              <a:buFont typeface="Calibri"/>
              <a:buNone/>
            </a:pPr>
            <a:r>
              <a:rPr lang="en-US" sz="235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9"/>
          <p:cNvGrpSpPr/>
          <p:nvPr/>
        </p:nvGrpSpPr>
        <p:grpSpPr>
          <a:xfrm>
            <a:off x="678177" y="2950095"/>
            <a:ext cx="1790573" cy="605695"/>
            <a:chOff x="1428775" y="2859300"/>
            <a:chExt cx="1074000" cy="363301"/>
          </a:xfrm>
        </p:grpSpPr>
        <p:sp>
          <p:nvSpPr>
            <p:cNvPr id="167" name="Google Shape;167;p9"/>
            <p:cNvSpPr/>
            <p:nvPr/>
          </p:nvSpPr>
          <p:spPr>
            <a:xfrm>
              <a:off x="1428775" y="2859300"/>
              <a:ext cx="1074000" cy="363300"/>
            </a:xfrm>
            <a:prstGeom prst="rect">
              <a:avLst/>
            </a:prstGeom>
            <a:solidFill>
              <a:srgbClr val="FFFFFF"/>
            </a:solidFill>
            <a:ln cap="flat" cmpd="sng" w="21175">
              <a:solidFill>
                <a:srgbClr val="C9C3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6200" lIns="152425" spcFirstLastPara="1" rIns="152425" wrap="square" tIns="76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1428775" y="2859301"/>
              <a:ext cx="1074000" cy="363300"/>
            </a:xfrm>
            <a:prstGeom prst="rect">
              <a:avLst/>
            </a:prstGeom>
            <a:solidFill>
              <a:srgbClr val="231C4D"/>
            </a:solidFill>
            <a:ln>
              <a:noFill/>
            </a:ln>
          </p:spPr>
          <p:txBody>
            <a:bodyPr anchorCtr="0" anchor="t" bIns="76200" lIns="152425" spcFirstLastPara="1" rIns="152425" wrap="square" tIns="76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9"/>
            <p:cNvSpPr txBox="1"/>
            <p:nvPr/>
          </p:nvSpPr>
          <p:spPr>
            <a:xfrm>
              <a:off x="1428775" y="2859301"/>
              <a:ext cx="1074000" cy="36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4"/>
                <a:buFont typeface="Calibri"/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Usuario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9"/>
          <p:cNvGrpSpPr/>
          <p:nvPr/>
        </p:nvGrpSpPr>
        <p:grpSpPr>
          <a:xfrm>
            <a:off x="3039187" y="2950095"/>
            <a:ext cx="1677043" cy="605695"/>
            <a:chOff x="2844928" y="2859300"/>
            <a:chExt cx="1005904" cy="363300"/>
          </a:xfrm>
        </p:grpSpPr>
        <p:sp>
          <p:nvSpPr>
            <p:cNvPr id="171" name="Google Shape;171;p9"/>
            <p:cNvSpPr/>
            <p:nvPr/>
          </p:nvSpPr>
          <p:spPr>
            <a:xfrm>
              <a:off x="2844931" y="2859300"/>
              <a:ext cx="1005900" cy="363300"/>
            </a:xfrm>
            <a:prstGeom prst="rect">
              <a:avLst/>
            </a:prstGeom>
            <a:solidFill>
              <a:srgbClr val="FFFFFF"/>
            </a:solidFill>
            <a:ln cap="flat" cmpd="sng" w="21175">
              <a:solidFill>
                <a:srgbClr val="C9C3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6200" lIns="152425" spcFirstLastPara="1" rIns="152425" wrap="square" tIns="76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2844928" y="2859300"/>
              <a:ext cx="1005900" cy="363300"/>
            </a:xfrm>
            <a:prstGeom prst="rect">
              <a:avLst/>
            </a:prstGeom>
            <a:solidFill>
              <a:srgbClr val="231C4D"/>
            </a:solidFill>
            <a:ln>
              <a:noFill/>
            </a:ln>
          </p:spPr>
          <p:txBody>
            <a:bodyPr anchorCtr="0" anchor="t" bIns="76200" lIns="152425" spcFirstLastPara="1" rIns="152425" wrap="square" tIns="76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9"/>
            <p:cNvSpPr txBox="1"/>
            <p:nvPr/>
          </p:nvSpPr>
          <p:spPr>
            <a:xfrm>
              <a:off x="2844928" y="2859300"/>
              <a:ext cx="1005900" cy="36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4"/>
                <a:buFont typeface="Calibri"/>
                <a:buNone/>
              </a:pPr>
              <a:r>
                <a:rPr b="1" lang="en-US" sz="183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r>
                <a:rPr b="1" lang="en-US" sz="183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uego_catalogo</a:t>
              </a:r>
              <a:endParaRPr sz="18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9"/>
          <p:cNvGrpSpPr/>
          <p:nvPr/>
        </p:nvGrpSpPr>
        <p:grpSpPr>
          <a:xfrm>
            <a:off x="5324194" y="2950095"/>
            <a:ext cx="1547003" cy="605694"/>
            <a:chOff x="4215493" y="2859300"/>
            <a:chExt cx="927905" cy="363300"/>
          </a:xfrm>
        </p:grpSpPr>
        <p:sp>
          <p:nvSpPr>
            <p:cNvPr id="175" name="Google Shape;175;p9"/>
            <p:cNvSpPr/>
            <p:nvPr/>
          </p:nvSpPr>
          <p:spPr>
            <a:xfrm>
              <a:off x="4215493" y="2859300"/>
              <a:ext cx="927900" cy="363300"/>
            </a:xfrm>
            <a:prstGeom prst="rect">
              <a:avLst/>
            </a:prstGeom>
            <a:solidFill>
              <a:srgbClr val="FFFFFF"/>
            </a:solidFill>
            <a:ln cap="flat" cmpd="sng" w="21175">
              <a:solidFill>
                <a:srgbClr val="C9C3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6200" lIns="152425" spcFirstLastPara="1" rIns="152425" wrap="square" tIns="76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4215498" y="2859300"/>
              <a:ext cx="927900" cy="363300"/>
            </a:xfrm>
            <a:prstGeom prst="rect">
              <a:avLst/>
            </a:prstGeom>
            <a:solidFill>
              <a:srgbClr val="231C4D"/>
            </a:solidFill>
            <a:ln>
              <a:noFill/>
            </a:ln>
          </p:spPr>
          <p:txBody>
            <a:bodyPr anchorCtr="0" anchor="t" bIns="76200" lIns="152425" spcFirstLastPara="1" rIns="152425" wrap="square" tIns="76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9"/>
            <p:cNvSpPr txBox="1"/>
            <p:nvPr/>
          </p:nvSpPr>
          <p:spPr>
            <a:xfrm>
              <a:off x="4215498" y="2859300"/>
              <a:ext cx="927900" cy="36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4"/>
                <a:buFont typeface="Calibri"/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lantilla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9"/>
          <p:cNvGrpSpPr/>
          <p:nvPr/>
        </p:nvGrpSpPr>
        <p:grpSpPr>
          <a:xfrm>
            <a:off x="7479186" y="2950095"/>
            <a:ext cx="1905109" cy="605694"/>
            <a:chOff x="5508075" y="2859300"/>
            <a:chExt cx="1142700" cy="363300"/>
          </a:xfrm>
        </p:grpSpPr>
        <p:sp>
          <p:nvSpPr>
            <p:cNvPr id="179" name="Google Shape;179;p9"/>
            <p:cNvSpPr/>
            <p:nvPr/>
          </p:nvSpPr>
          <p:spPr>
            <a:xfrm>
              <a:off x="5508075" y="2859300"/>
              <a:ext cx="1142700" cy="363300"/>
            </a:xfrm>
            <a:prstGeom prst="rect">
              <a:avLst/>
            </a:prstGeom>
            <a:solidFill>
              <a:srgbClr val="231C4D"/>
            </a:solidFill>
            <a:ln>
              <a:noFill/>
            </a:ln>
          </p:spPr>
          <p:txBody>
            <a:bodyPr anchorCtr="0" anchor="t" bIns="76200" lIns="152425" spcFirstLastPara="1" rIns="152425" wrap="square" tIns="76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9"/>
            <p:cNvSpPr txBox="1"/>
            <p:nvPr/>
          </p:nvSpPr>
          <p:spPr>
            <a:xfrm>
              <a:off x="5508075" y="2859300"/>
              <a:ext cx="1142700" cy="36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4"/>
                <a:buFont typeface="Calibri"/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oto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9"/>
          <p:cNvSpPr/>
          <p:nvPr/>
        </p:nvSpPr>
        <p:spPr>
          <a:xfrm>
            <a:off x="9992402" y="2950138"/>
            <a:ext cx="1677000" cy="605700"/>
          </a:xfrm>
          <a:prstGeom prst="rect">
            <a:avLst/>
          </a:prstGeom>
          <a:solidFill>
            <a:srgbClr val="231C4D"/>
          </a:solidFill>
          <a:ln>
            <a:noFill/>
          </a:ln>
        </p:spPr>
        <p:txBody>
          <a:bodyPr anchorCtr="0" anchor="t" bIns="76200" lIns="152425" spcFirstLastPara="1" rIns="152425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9992402" y="2950138"/>
            <a:ext cx="1677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4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espaldo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9"/>
          <p:cNvCxnSpPr/>
          <p:nvPr/>
        </p:nvCxnSpPr>
        <p:spPr>
          <a:xfrm rot="10800000">
            <a:off x="1567950" y="2342475"/>
            <a:ext cx="9270900" cy="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9"/>
          <p:cNvSpPr txBox="1"/>
          <p:nvPr/>
        </p:nvSpPr>
        <p:spPr>
          <a:xfrm>
            <a:off x="5449497" y="4135100"/>
            <a:ext cx="12930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50"/>
              <a:buFont typeface="Calibri"/>
              <a:buNone/>
            </a:pPr>
            <a:r>
              <a:rPr b="1" lang="en-US" sz="205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INDEXEDDB</a:t>
            </a:r>
            <a:endParaRPr b="1"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9"/>
          <p:cNvGrpSpPr/>
          <p:nvPr/>
        </p:nvGrpSpPr>
        <p:grpSpPr>
          <a:xfrm>
            <a:off x="2174086" y="5110526"/>
            <a:ext cx="2078637" cy="703238"/>
            <a:chOff x="1830023" y="4840100"/>
            <a:chExt cx="1685700" cy="570301"/>
          </a:xfrm>
        </p:grpSpPr>
        <p:sp>
          <p:nvSpPr>
            <p:cNvPr id="186" name="Google Shape;186;p9"/>
            <p:cNvSpPr/>
            <p:nvPr/>
          </p:nvSpPr>
          <p:spPr>
            <a:xfrm>
              <a:off x="1830023" y="4840100"/>
              <a:ext cx="1685700" cy="570300"/>
            </a:xfrm>
            <a:prstGeom prst="rect">
              <a:avLst/>
            </a:prstGeom>
            <a:solidFill>
              <a:srgbClr val="FFFFFF"/>
            </a:solidFill>
            <a:ln cap="flat" cmpd="sng" w="24575">
              <a:solidFill>
                <a:srgbClr val="C9C3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8450" lIns="176925" spcFirstLastPara="1" rIns="176925" wrap="square" tIns="88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1830023" y="4840101"/>
              <a:ext cx="1685700" cy="570300"/>
            </a:xfrm>
            <a:prstGeom prst="rect">
              <a:avLst/>
            </a:prstGeom>
            <a:solidFill>
              <a:srgbClr val="231C4D"/>
            </a:solidFill>
            <a:ln>
              <a:noFill/>
            </a:ln>
          </p:spPr>
          <p:txBody>
            <a:bodyPr anchorCtr="0" anchor="t" bIns="88450" lIns="176925" spcFirstLastPara="1" rIns="176925" wrap="square" tIns="88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9"/>
            <p:cNvSpPr txBox="1"/>
            <p:nvPr/>
          </p:nvSpPr>
          <p:spPr>
            <a:xfrm>
              <a:off x="1830023" y="4840101"/>
              <a:ext cx="1685700" cy="5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39"/>
                <a:buFont typeface="Calibri"/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Inventario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5143740" y="5123350"/>
            <a:ext cx="1946949" cy="703238"/>
            <a:chOff x="4238305" y="4850500"/>
            <a:chExt cx="1578906" cy="570301"/>
          </a:xfrm>
        </p:grpSpPr>
        <p:sp>
          <p:nvSpPr>
            <p:cNvPr id="190" name="Google Shape;190;p9"/>
            <p:cNvSpPr/>
            <p:nvPr/>
          </p:nvSpPr>
          <p:spPr>
            <a:xfrm>
              <a:off x="4238311" y="4850500"/>
              <a:ext cx="1578900" cy="570300"/>
            </a:xfrm>
            <a:prstGeom prst="rect">
              <a:avLst/>
            </a:prstGeom>
            <a:solidFill>
              <a:srgbClr val="FFFFFF"/>
            </a:solidFill>
            <a:ln cap="flat" cmpd="sng" w="24575">
              <a:solidFill>
                <a:srgbClr val="C9C3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8475" lIns="176975" spcFirstLastPara="1" rIns="176975" wrap="square" tIns="88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238305" y="4850501"/>
              <a:ext cx="1578900" cy="570300"/>
            </a:xfrm>
            <a:prstGeom prst="rect">
              <a:avLst/>
            </a:prstGeom>
            <a:solidFill>
              <a:srgbClr val="231C4D"/>
            </a:solidFill>
            <a:ln>
              <a:noFill/>
            </a:ln>
          </p:spPr>
          <p:txBody>
            <a:bodyPr anchorCtr="0" anchor="t" bIns="88475" lIns="176975" spcFirstLastPara="1" rIns="176975" wrap="square" tIns="88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9"/>
            <p:cNvSpPr txBox="1"/>
            <p:nvPr/>
          </p:nvSpPr>
          <p:spPr>
            <a:xfrm>
              <a:off x="4238305" y="4850501"/>
              <a:ext cx="1578900" cy="5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39"/>
                <a:buFont typeface="Calibri"/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Configuraciones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9"/>
          <p:cNvGrpSpPr/>
          <p:nvPr/>
        </p:nvGrpSpPr>
        <p:grpSpPr>
          <a:xfrm>
            <a:off x="8223396" y="5123350"/>
            <a:ext cx="1794540" cy="702497"/>
            <a:chOff x="6735797" y="4850500"/>
            <a:chExt cx="1455307" cy="569700"/>
          </a:xfrm>
        </p:grpSpPr>
        <p:sp>
          <p:nvSpPr>
            <p:cNvPr id="194" name="Google Shape;194;p9"/>
            <p:cNvSpPr/>
            <p:nvPr/>
          </p:nvSpPr>
          <p:spPr>
            <a:xfrm>
              <a:off x="6735797" y="4850500"/>
              <a:ext cx="1455300" cy="569700"/>
            </a:xfrm>
            <a:prstGeom prst="rect">
              <a:avLst/>
            </a:prstGeom>
            <a:solidFill>
              <a:srgbClr val="FFFFFF"/>
            </a:solidFill>
            <a:ln cap="flat" cmpd="sng" w="24575">
              <a:solidFill>
                <a:srgbClr val="C9C3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8375" lIns="176825" spcFirstLastPara="1" rIns="176825" wrap="square" tIns="88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735804" y="4850500"/>
              <a:ext cx="1455300" cy="569700"/>
            </a:xfrm>
            <a:prstGeom prst="rect">
              <a:avLst/>
            </a:prstGeom>
            <a:solidFill>
              <a:srgbClr val="231C4D"/>
            </a:solidFill>
            <a:ln>
              <a:noFill/>
            </a:ln>
          </p:spPr>
          <p:txBody>
            <a:bodyPr anchorCtr="0" anchor="t" bIns="88375" lIns="176825" spcFirstLastPara="1" rIns="176825" wrap="square" tIns="88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6735804" y="4850500"/>
              <a:ext cx="1455300" cy="5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37"/>
                <a:buFont typeface="Calibri"/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Resultados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7" name="Google Shape;197;p9"/>
          <p:cNvCxnSpPr>
            <a:endCxn id="182" idx="0"/>
          </p:cNvCxnSpPr>
          <p:nvPr/>
        </p:nvCxnSpPr>
        <p:spPr>
          <a:xfrm>
            <a:off x="10830902" y="2342938"/>
            <a:ext cx="0" cy="60720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9"/>
          <p:cNvCxnSpPr>
            <a:endCxn id="180" idx="0"/>
          </p:cNvCxnSpPr>
          <p:nvPr/>
        </p:nvCxnSpPr>
        <p:spPr>
          <a:xfrm>
            <a:off x="8431740" y="2343495"/>
            <a:ext cx="0" cy="60660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9"/>
          <p:cNvCxnSpPr>
            <a:endCxn id="177" idx="0"/>
          </p:cNvCxnSpPr>
          <p:nvPr/>
        </p:nvCxnSpPr>
        <p:spPr>
          <a:xfrm>
            <a:off x="6097699" y="2343795"/>
            <a:ext cx="0" cy="60630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9"/>
          <p:cNvCxnSpPr>
            <a:endCxn id="173" idx="0"/>
          </p:cNvCxnSpPr>
          <p:nvPr/>
        </p:nvCxnSpPr>
        <p:spPr>
          <a:xfrm>
            <a:off x="3877705" y="2341696"/>
            <a:ext cx="0" cy="60840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9"/>
          <p:cNvCxnSpPr>
            <a:endCxn id="169" idx="0"/>
          </p:cNvCxnSpPr>
          <p:nvPr/>
        </p:nvCxnSpPr>
        <p:spPr>
          <a:xfrm>
            <a:off x="1573464" y="2343196"/>
            <a:ext cx="0" cy="60690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9"/>
          <p:cNvCxnSpPr/>
          <p:nvPr/>
        </p:nvCxnSpPr>
        <p:spPr>
          <a:xfrm>
            <a:off x="6097700" y="1764500"/>
            <a:ext cx="0" cy="60630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9"/>
          <p:cNvCxnSpPr>
            <a:endCxn id="192" idx="0"/>
          </p:cNvCxnSpPr>
          <p:nvPr/>
        </p:nvCxnSpPr>
        <p:spPr>
          <a:xfrm>
            <a:off x="6117210" y="4516451"/>
            <a:ext cx="0" cy="60690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9"/>
          <p:cNvCxnSpPr>
            <a:endCxn id="196" idx="0"/>
          </p:cNvCxnSpPr>
          <p:nvPr/>
        </p:nvCxnSpPr>
        <p:spPr>
          <a:xfrm>
            <a:off x="9120670" y="4778350"/>
            <a:ext cx="0" cy="34500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9"/>
          <p:cNvCxnSpPr>
            <a:endCxn id="188" idx="0"/>
          </p:cNvCxnSpPr>
          <p:nvPr/>
        </p:nvCxnSpPr>
        <p:spPr>
          <a:xfrm>
            <a:off x="3213405" y="4780827"/>
            <a:ext cx="0" cy="32970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9"/>
          <p:cNvCxnSpPr/>
          <p:nvPr/>
        </p:nvCxnSpPr>
        <p:spPr>
          <a:xfrm rot="10800000">
            <a:off x="3212550" y="4785725"/>
            <a:ext cx="5911200" cy="0"/>
          </a:xfrm>
          <a:prstGeom prst="straightConnector1">
            <a:avLst/>
          </a:prstGeom>
          <a:noFill/>
          <a:ln cap="flat" cmpd="sng" w="13950">
            <a:solidFill>
              <a:srgbClr val="6B5BC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/>
        </p:nvSpPr>
        <p:spPr>
          <a:xfrm>
            <a:off x="731520" y="45720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Arquitectura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777240" y="10972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El motor no sabe que existe la red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731520" y="1600200"/>
            <a:ext cx="6766560" cy="960120"/>
          </a:xfrm>
          <a:prstGeom prst="rect">
            <a:avLst/>
          </a:prstGeom>
          <a:solidFill>
            <a:srgbClr val="6B5B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1051560" y="1728216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Interfaz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1051560" y="214884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React, Tailwind y Shadcn. Editor de juegos y resultados.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31520" y="2715768"/>
            <a:ext cx="6766560" cy="960120"/>
          </a:xfrm>
          <a:prstGeom prst="rect">
            <a:avLst/>
          </a:prstGeom>
          <a:solidFill>
            <a:srgbClr val="3A2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1051560" y="2843784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Núcleo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1051560" y="3264408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Modelo, validación de fórmulas y ciclos. Aislado de la red.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31520" y="3831336"/>
            <a:ext cx="6766560" cy="960120"/>
          </a:xfrm>
          <a:prstGeom prst="rect">
            <a:avLst/>
          </a:prstGeom>
          <a:solidFill>
            <a:srgbClr val="231C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1051560" y="395935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Adaptadores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1051560" y="4379976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Traducen cada juego al lenguaje del núcleo.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731520" y="4946904"/>
            <a:ext cx="6766560" cy="960120"/>
          </a:xfrm>
          <a:prstGeom prst="rect">
            <a:avLst/>
          </a:prstGeom>
          <a:solidFill>
            <a:srgbClr val="4A3D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1051560" y="507492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Persistencia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1051560" y="5495544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Único punto que habla con Dexie y con Supabase.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001000" y="1600200"/>
            <a:ext cx="3520440" cy="2148840"/>
          </a:xfrm>
          <a:prstGeom prst="rect">
            <a:avLst/>
          </a:prstGeom>
          <a:solidFill>
            <a:srgbClr val="FBF3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001000" y="1600200"/>
            <a:ext cx="41148" cy="21488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8366760" y="18288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A18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7A5A18"/>
                </a:solidFill>
                <a:latin typeface="Cambria"/>
                <a:ea typeface="Cambria"/>
                <a:cs typeface="Cambria"/>
                <a:sym typeface="Cambria"/>
              </a:rPr>
              <a:t>Worker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8366760" y="2331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8686800" y="2368296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471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E4712"/>
                </a:solidFill>
                <a:latin typeface="Calibri"/>
                <a:ea typeface="Calibri"/>
                <a:cs typeface="Calibri"/>
                <a:sym typeface="Calibri"/>
              </a:rPr>
              <a:t>Recibe la configuración validada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8366760" y="27706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8686800" y="2779776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471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E4712"/>
                </a:solidFill>
                <a:latin typeface="Calibri"/>
                <a:ea typeface="Calibri"/>
                <a:cs typeface="Calibri"/>
                <a:sym typeface="Calibri"/>
              </a:rPr>
              <a:t>Recorre el espacio de builds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8366760" y="32095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8686800" y="3264408"/>
            <a:ext cx="2651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471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E4712"/>
                </a:solidFill>
                <a:latin typeface="Calibri"/>
                <a:ea typeface="Calibri"/>
                <a:cs typeface="Calibri"/>
                <a:sym typeface="Calibri"/>
              </a:rPr>
              <a:t>Devuelve el óptimo demostrado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8001000" y="4023360"/>
            <a:ext cx="3520440" cy="2057400"/>
          </a:xfrm>
          <a:prstGeom prst="rect">
            <a:avLst/>
          </a:prstGeom>
          <a:solidFill>
            <a:srgbClr val="F6F5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8001000" y="4023360"/>
            <a:ext cx="41148" cy="2057400"/>
          </a:xfrm>
          <a:prstGeom prst="rect">
            <a:avLst/>
          </a:prstGeom>
          <a:solidFill>
            <a:srgbClr val="6B5B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8366760" y="422452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Nube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8366760" y="47274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BC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5BC4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8686800" y="4773168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Plantillas compartidas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8366760" y="51389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BC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5BC4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8686800" y="5164836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Votación de la comunidad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8366760" y="55504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BC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5BC4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8727780" y="5556486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Autenticación y respaldo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 txBox="1"/>
          <p:nvPr/>
        </p:nvSpPr>
        <p:spPr>
          <a:xfrm>
            <a:off x="640080" y="14173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Wireframe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 rot="5400000">
            <a:off x="870966" y="1645920"/>
            <a:ext cx="41148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640080" y="2108296"/>
            <a:ext cx="292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1600"/>
              <a:buFont typeface="Cambria"/>
              <a:buNone/>
            </a:pPr>
            <a:r>
              <a:rPr lang="en-US" sz="16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Se diseñaron maquetas para definir la </a:t>
            </a:r>
            <a:r>
              <a:rPr lang="en-US" sz="16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estética</a:t>
            </a:r>
            <a:r>
              <a:rPr lang="en-US" sz="16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 desde el inicio de la planificacion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594360" y="3217221"/>
            <a:ext cx="3017520" cy="1292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640080" y="58064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Zenith Optimizer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1" title="WhatsApp Image 2026-09-01 at 8.11.24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9086" y="1240450"/>
            <a:ext cx="8229564" cy="437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hots/01-juegos.png" id="260" name="Google Shape;260;g3f8b4804af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0" y="1234440"/>
            <a:ext cx="8183882" cy="485918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f8b4804af4_0_0"/>
          <p:cNvSpPr txBox="1"/>
          <p:nvPr/>
        </p:nvSpPr>
        <p:spPr>
          <a:xfrm>
            <a:off x="640080" y="1417320"/>
            <a:ext cx="3108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Catálogo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f8b4804af4_0_0"/>
          <p:cNvSpPr/>
          <p:nvPr/>
        </p:nvSpPr>
        <p:spPr>
          <a:xfrm rot="5400000">
            <a:off x="871050" y="1645956"/>
            <a:ext cx="41100" cy="502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8b4804af4_0_0"/>
          <p:cNvSpPr txBox="1"/>
          <p:nvPr/>
        </p:nvSpPr>
        <p:spPr>
          <a:xfrm>
            <a:off x="640080" y="2108296"/>
            <a:ext cx="292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1600"/>
              <a:buFont typeface="Cambria"/>
              <a:buNone/>
            </a:pPr>
            <a:r>
              <a:rPr lang="en-US" sz="16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Las tres tarjetas corren sobre exactamente el mismo código.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f8b4804af4_0_0"/>
          <p:cNvSpPr txBox="1"/>
          <p:nvPr/>
        </p:nvSpPr>
        <p:spPr>
          <a:xfrm>
            <a:off x="594360" y="3217221"/>
            <a:ext cx="30174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Lo único que cambia entre un juego y otro es el archivo de configuración: ranuras, estadísticas, conjuntos y fórmulas.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8b4804af4_0_0"/>
          <p:cNvSpPr txBox="1"/>
          <p:nvPr/>
        </p:nvSpPr>
        <p:spPr>
          <a:xfrm>
            <a:off x="640080" y="5806440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Zenith Optimizer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9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hots/02-config.png" id="271" name="Google Shape;2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34440"/>
            <a:ext cx="8183880" cy="485917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2"/>
          <p:cNvSpPr txBox="1"/>
          <p:nvPr/>
        </p:nvSpPr>
        <p:spPr>
          <a:xfrm>
            <a:off x="8915400" y="141732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Definición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 rot="5400000">
            <a:off x="9146286" y="1635827"/>
            <a:ext cx="41148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8915400" y="21488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1600"/>
              <a:buFont typeface="Cambria"/>
              <a:buNone/>
            </a:pPr>
            <a:r>
              <a:rPr lang="en-US" sz="16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El diagrama no está escrito en el motor: se genera desde la configuración del juego.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8915400" y="3429000"/>
            <a:ext cx="2920042" cy="979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El usuario elige el objetivo a maximizar, agrega restricciones y decide si el cálculo corre con o sin límite de tiempo.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8915400" y="5806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Zenith Optimizer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/>
        </p:nvSpPr>
        <p:spPr>
          <a:xfrm>
            <a:off x="731520" y="59436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Próximos pasos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731520" y="1444752"/>
            <a:ext cx="10789920" cy="1051560"/>
          </a:xfrm>
          <a:prstGeom prst="rect">
            <a:avLst/>
          </a:prstGeom>
          <a:solidFill>
            <a:srgbClr val="FBF3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868680" y="1600200"/>
            <a:ext cx="41148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1046988" y="176022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Cerrar el formato del backlog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6217920" y="1600200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Conviven criterios en escenarios Given/When/Then y en listas. Falta fijar un estándar único.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868680" y="2743200"/>
            <a:ext cx="41148" cy="685800"/>
          </a:xfrm>
          <a:prstGeom prst="rect">
            <a:avLst/>
          </a:prstGeom>
          <a:solidFill>
            <a:srgbClr val="D6D2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1006702" y="28803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Partir las historias grandes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6217920" y="2743200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Variantes, importación e historial concentran demasiadas capacidades para un solo entregable.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68680" y="3886200"/>
            <a:ext cx="41148" cy="685800"/>
          </a:xfrm>
          <a:prstGeom prst="rect">
            <a:avLst/>
          </a:prstGeom>
          <a:solidFill>
            <a:srgbClr val="D6D2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1006702" y="40233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Validar los supuestos técnicos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6217920" y="3886200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Confirmar el stack y los límites que hoy son estimaciones, no restricciones del proyecto.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868680" y="5029200"/>
            <a:ext cx="41148" cy="685800"/>
          </a:xfrm>
          <a:prstGeom prst="rect">
            <a:avLst/>
          </a:prstGeom>
          <a:solidFill>
            <a:srgbClr val="D6D2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1006702" y="51663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1C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31C4D"/>
                </a:solidFill>
                <a:latin typeface="Cambria"/>
                <a:ea typeface="Cambria"/>
                <a:cs typeface="Cambria"/>
                <a:sym typeface="Cambria"/>
              </a:rPr>
              <a:t>Configurar un juego completo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6217920" y="5029200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B7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B7B"/>
                </a:solidFill>
                <a:latin typeface="Calibri"/>
                <a:ea typeface="Calibri"/>
                <a:cs typeface="Calibri"/>
                <a:sym typeface="Calibri"/>
              </a:rPr>
              <a:t>Levantarlo de punta a punta para probar el motor contra un caso verdadero.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1C4D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 txBox="1"/>
          <p:nvPr/>
        </p:nvSpPr>
        <p:spPr>
          <a:xfrm>
            <a:off x="1325880" y="187452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 el juego es un archivo,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motor deja de envejecer.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1371600" y="3840480"/>
            <a:ext cx="1188720" cy="411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2026-08-31T18:06:52Z</dcterms:created>
  <dc:creator>PptxGenJS</dc:creator>
</cp:coreProperties>
</file>